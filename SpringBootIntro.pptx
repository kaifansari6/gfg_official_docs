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324" r:id="rId9"/>
    <p:sldId id="325" r:id="rId10"/>
    <p:sldId id="326" r:id="rId11"/>
    <p:sldId id="327" r:id="rId12"/>
    <p:sldId id="328" r:id="rId13"/>
    <p:sldId id="32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616F-46D5-F855-6519-8045914B3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F04DD-756F-AF9B-DBB9-FC0DF6E1D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17D23-4E40-DBB0-3D8A-2FD4A2302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FD975-667E-CF58-A382-BF0F22631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32B22-2058-9F5E-4499-7D1F2085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51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44DC-48E3-3AA1-7BEB-DAA058EB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9AE5D-F022-89B2-88C5-A41BD5193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E9D73-FEFD-D7AD-88CB-8CF11C5C8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B56A0-BDAD-79BE-EDB4-D1903370C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C5B5D-1AED-4CC8-00BD-F7DA10E7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0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A500-4BDE-79CF-2D82-8AF1BEB54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831CC-0F02-9B8B-7CBE-E71C88262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ED79E-36C3-695D-F032-E6F3C861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8E237-5F0B-F358-2CE0-45F3A11F9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C6687-0062-BE63-4605-F9E0E9D1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40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BB79-9815-FAC1-5A1C-8FC85B14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BDFA2-A010-25AC-0C8D-148704E41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D6FCE-DA53-4B4E-7863-0C4F36390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DC9CF-7918-B348-83F2-F12DD0C0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9B456-121D-12AF-B3BF-AAAF2B89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0BB34-0EE0-BA50-5ACD-DCB28E1B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6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E96B-31DD-47F1-7349-94BAD000C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967B1-098A-A64C-8C5D-2A8FCC448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6C3BB-900E-FF72-096F-79E208E77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3000AD-1960-D3E9-D9DD-851929809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81B4D-BE95-F149-C14D-0A6AAB3E8E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90B3A5-C12A-F5D4-D14F-F37F604A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15F59D-9DE3-885A-D4E4-D95CB235A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F233B-75EC-203B-DED4-3E0B7F19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258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A7A00-C945-94C1-ACEA-DE4A2B71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B59FC-5A01-4457-AACA-952ABEE5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B1A5F-1FF9-13D9-281C-39FB087A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43577-6558-F56E-4013-5FAFF37F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841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9B6F6-3FC0-891D-B2C2-A3E478A3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47AD4-ECA2-450D-6FB5-6267B625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8F8E3-781D-91F6-494A-60C411C2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70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5B4F-ABBD-D161-7E00-E11E9F6D0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70EB5-11C9-E7A1-CD97-484377D7A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3F04D-87D1-A953-2DC9-F18B03152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7109B-8F7F-A242-722B-A66A379C5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6F5D1-896B-159D-3406-6770033AF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E8C88-C5FD-2812-5DC2-8EBDAE78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1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7E3D2-9D2A-1687-B81B-8FF123D0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A748A-E22C-1595-AD09-6DEDE90C9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06B8A-BD04-A3C5-A657-32A3CCBC6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DD954-1CF0-15F3-4F9D-3B3555D76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7A7D7-87E3-2242-175F-9694D924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4C58A-4821-ABF7-C209-CC20F6AC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77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A036-74A3-86F8-2E62-1B69BF924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D59CE-9359-FEEA-ECDA-812D6DD2F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C568A-4EBF-7617-8F0B-432139BC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90718-F9C0-FE18-A2A7-A28165B2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9905B-91A7-EAF3-3545-0EAFED87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849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62A2E2-E0F0-7755-01D7-E61CC1EE6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E3E0D-437C-DA8C-085F-505ACC5F1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EE821-428C-C167-B2B8-09D1946E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9AA47-E662-2D7D-9664-CDA62357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9E4CF-B022-C315-F921-412BD7E2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76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3D944E-376A-326B-2B7A-56A35E7E8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96863-F064-2397-0268-2967CB893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F460-A05E-9C47-01FE-66EB7CAD4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A3200-5072-4B0F-8DFD-9853547473B7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AB3AD-1434-306D-01DC-5B6D3C0A2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FC26E-6626-2C59-8F53-3276CCDB9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81310-B42A-4264-AF07-9247127D1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160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D8E9D-2292-66D6-EAE6-615143CAE8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Introduction to </a:t>
            </a:r>
            <a:r>
              <a:rPr lang="en-IN" dirty="0" err="1"/>
              <a:t>SpringBoot</a:t>
            </a:r>
            <a:r>
              <a:rPr lang="en-IN" dirty="0"/>
              <a:t>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C3DAD-A095-3B86-3E7D-499E7437BB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39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D74E-9BB3-7CBC-5B86-3AD8EC421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/>
          <a:lstStyle/>
          <a:p>
            <a:r>
              <a:rPr lang="en-US" b="1" dirty="0"/>
              <a:t>Introduction to the </a:t>
            </a:r>
            <a:r>
              <a:rPr lang="en-US" b="1" dirty="0" err="1"/>
              <a:t>SpringBoot</a:t>
            </a:r>
            <a:r>
              <a:rPr lang="en-US" b="1" dirty="0"/>
              <a:t> Application: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9C822-8279-44DB-9FE3-F839A72E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99535"/>
            <a:ext cx="10931013" cy="5417575"/>
          </a:xfrm>
        </p:spPr>
        <p:txBody>
          <a:bodyPr>
            <a:normAutofit/>
          </a:bodyPr>
          <a:lstStyle/>
          <a:p>
            <a:r>
              <a:rPr lang="en-US" dirty="0"/>
              <a:t>Spring Boot is a module of the spring framework that speeds up the development time.</a:t>
            </a:r>
          </a:p>
          <a:p>
            <a:r>
              <a:rPr lang="en-US" dirty="0"/>
              <a:t>It provides an easy and faster way to set up, configure, and run the web-based application. </a:t>
            </a:r>
          </a:p>
          <a:p>
            <a:r>
              <a:rPr lang="en-US" dirty="0"/>
              <a:t>Spring Framework along with the </a:t>
            </a:r>
            <a:r>
              <a:rPr lang="en-US" dirty="0" err="1"/>
              <a:t>embadded</a:t>
            </a:r>
            <a:r>
              <a:rPr lang="en-US" dirty="0"/>
              <a:t> tomcat server and lesser configuration is known as Spring Boot Application.</a:t>
            </a:r>
          </a:p>
        </p:txBody>
      </p:sp>
    </p:spTree>
    <p:extLst>
      <p:ext uri="{BB962C8B-B14F-4D97-AF65-F5344CB8AC3E}">
        <p14:creationId xmlns:p14="http://schemas.microsoft.com/office/powerpoint/2010/main" val="4105157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F560-2F6F-4E7E-897A-384CE082A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CBAC7-EF5F-10F7-474F-EF2F614B1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/>
          <a:lstStyle/>
          <a:p>
            <a:r>
              <a:rPr lang="en-US" b="1" dirty="0"/>
              <a:t>Advantages of Spring Boot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BD20A-C81E-17ED-F2E4-3B31282AD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99535"/>
            <a:ext cx="10931013" cy="54175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Simplified Dependency Management: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Traditional Spring:</a:t>
            </a:r>
            <a:r>
              <a:rPr lang="en-US" dirty="0"/>
              <a:t> You need to manually configure dependencies in pom.xml or </a:t>
            </a:r>
            <a:r>
              <a:rPr lang="en-US" dirty="0" err="1"/>
              <a:t>build.gradle</a:t>
            </a:r>
            <a:r>
              <a:rPr lang="en-US" dirty="0"/>
              <a:t>, often leading to version conflicts or missing dependencies.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Spring Boot:</a:t>
            </a:r>
            <a:r>
              <a:rPr lang="en-US" dirty="0"/>
              <a:t> Uses starter dependencies (e.g., spring-boot-starter-web, spring-boot-starter-data-</a:t>
            </a:r>
            <a:r>
              <a:rPr lang="en-US" dirty="0" err="1"/>
              <a:t>jpa</a:t>
            </a:r>
            <a:r>
              <a:rPr lang="en-US" dirty="0"/>
              <a:t>) that bundle all required dependencies for specific functionality, reducing configuration overhead</a:t>
            </a:r>
          </a:p>
          <a:p>
            <a:pPr>
              <a:lnSpc>
                <a:spcPct val="100000"/>
              </a:lnSpc>
            </a:pPr>
            <a:r>
              <a:rPr lang="en-US" b="1" dirty="0"/>
              <a:t>Auto-Configuration: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Traditional Spring: </a:t>
            </a:r>
            <a:r>
              <a:rPr lang="en-US" dirty="0"/>
              <a:t>Requires explicit configuration for beans, data sources, servlets, etc., using XML or Java-based configuration.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Spring Boot: </a:t>
            </a:r>
            <a:r>
              <a:rPr lang="en-US" dirty="0"/>
              <a:t>Automatically configures beans and other components based on the dependencies present in the </a:t>
            </a:r>
            <a:r>
              <a:rPr lang="en-US" dirty="0" err="1"/>
              <a:t>classpath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0469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CC85-5CAA-883D-CF01-2B3AFEDA7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FBA1-6079-C079-3461-234CAFBF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/>
          <a:lstStyle/>
          <a:p>
            <a:r>
              <a:rPr lang="en-US" b="1" dirty="0"/>
              <a:t>Advantages of Spring Boot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EA170-50FD-3337-1CC7-FF86C6B1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99535"/>
            <a:ext cx="10931013" cy="54175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Embedded Servers: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Traditional Spring: </a:t>
            </a:r>
            <a:r>
              <a:rPr lang="en-US" dirty="0"/>
              <a:t>Requires deploying the application to an external server (e.g., Tomcat, Jetty).</a:t>
            </a:r>
            <a:endParaRPr lang="en-US" b="1" dirty="0"/>
          </a:p>
          <a:p>
            <a:pPr lvl="1">
              <a:lnSpc>
                <a:spcPct val="100000"/>
              </a:lnSpc>
            </a:pPr>
            <a:r>
              <a:rPr lang="en-US" b="1" dirty="0"/>
              <a:t>Spring Boot: </a:t>
            </a:r>
            <a:r>
              <a:rPr lang="en-US" dirty="0"/>
              <a:t>Comes with embedded servers (e.g., Tomcat, Jetty, Undertow), allowing you to run the application as a standalone JAR file without needing an external server.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No XML Configuration: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Traditional Spring: </a:t>
            </a:r>
            <a:r>
              <a:rPr lang="en-US" dirty="0"/>
              <a:t>Often relies on XML configuration files (e.g., applicationContext.xml).</a:t>
            </a:r>
            <a:endParaRPr lang="en-US" b="1" dirty="0"/>
          </a:p>
          <a:p>
            <a:pPr lvl="1">
              <a:lnSpc>
                <a:spcPct val="100000"/>
              </a:lnSpc>
            </a:pPr>
            <a:r>
              <a:rPr lang="en-US" b="1" dirty="0"/>
              <a:t>Spring Boot: </a:t>
            </a:r>
            <a:r>
              <a:rPr lang="en-US" dirty="0"/>
              <a:t>Encourages Java-based configuration and annotations, eliminating the need for XML files</a:t>
            </a:r>
          </a:p>
        </p:txBody>
      </p:sp>
    </p:spTree>
    <p:extLst>
      <p:ext uri="{BB962C8B-B14F-4D97-AF65-F5344CB8AC3E}">
        <p14:creationId xmlns:p14="http://schemas.microsoft.com/office/powerpoint/2010/main" val="79917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5607-1C86-0F0E-A632-71448EC56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1F44E-DD06-08B3-DD33-2B70A44BE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/>
          <a:lstStyle/>
          <a:p>
            <a:r>
              <a:rPr lang="en-US" b="1" dirty="0"/>
              <a:t>Advantages of Spring Boot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6621A-0CC7-526D-05CE-F1F95E5FB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99535"/>
            <a:ext cx="10931013" cy="54175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Faster Development: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Traditional Spring: </a:t>
            </a:r>
            <a:r>
              <a:rPr lang="en-US" dirty="0"/>
              <a:t>Requires significant boilerplate code and configuration</a:t>
            </a:r>
            <a:r>
              <a:rPr lang="en-US" b="1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Spring Boot: </a:t>
            </a:r>
            <a:r>
              <a:rPr lang="en-US" dirty="0"/>
              <a:t>Reduces boilerplate code and provides a faster development cycle with features like Live Reload and Spring </a:t>
            </a:r>
            <a:r>
              <a:rPr lang="en-US" dirty="0" err="1"/>
              <a:t>DevTools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283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FA00A-997B-FFEC-C5AE-65489F35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CE2B0-6945-1077-8C7F-14ECD859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Purpose of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3B6A7-FB2B-8AED-F602-067F40E08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99535"/>
            <a:ext cx="10931013" cy="541757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primary purpose of Spring Boot is to simplify and accelerate the development of Spring-based applications. It achieves this by: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Providing default configurations for common use cases.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Reducing the need for boilerplate code and manual configuration.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Enabling developers to focus on business logic rather than infrastructure setup.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Supporting microservices architecture and cloud-native development.</a:t>
            </a:r>
          </a:p>
        </p:txBody>
      </p:sp>
    </p:spTree>
    <p:extLst>
      <p:ext uri="{BB962C8B-B14F-4D97-AF65-F5344CB8AC3E}">
        <p14:creationId xmlns:p14="http://schemas.microsoft.com/office/powerpoint/2010/main" val="1647419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CE4E5-D48D-FBEF-0C7E-D3E4B09A4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B036-5249-1A37-EF7C-AD706EF0E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Spring MVC: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A6DE4-F37D-FD38-6AC8-3D7616C11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99535"/>
            <a:ext cx="10931013" cy="541757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A Spring MVC is a Java framework which is used to build web applications.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It follows the Model-View-Controller design pattern.</a:t>
            </a:r>
          </a:p>
          <a:p>
            <a:pPr lvl="1" algn="just"/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Model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: Represents the data and business logic.</a:t>
            </a:r>
          </a:p>
          <a:p>
            <a:pPr lvl="1" algn="just"/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View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: Represents the UI (e.g., HTML, JSP, </a:t>
            </a:r>
            <a:r>
              <a:rPr 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Thymeleaf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).</a:t>
            </a:r>
          </a:p>
          <a:p>
            <a:pPr lvl="1" algn="just"/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Controller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: Handles user requests, processes them, and returns the appropriate response.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 It implements all the basic features of a core spring framework like Inversion of Control, and Dependency Injection.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A Spring MVC provides an elegant solution to use MVC in spring framework by the help of </a:t>
            </a:r>
            <a:r>
              <a:rPr lang="en-US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bold"/>
              </a:rPr>
              <a:t>DispatcherServlet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.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Here, </a:t>
            </a:r>
            <a:r>
              <a:rPr lang="en-US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bold"/>
              </a:rPr>
              <a:t>DispatcherServlet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 is a class that receives the incoming request and maps it to the right resource such as controllers, models, and views.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4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BE47-5DD3-74C0-08FD-1B1D5EC4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Understanding the flow of Spring Web MVC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012EB-8763-5597-0DF0-782E6E3AA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As displayed in the figure, all the incoming request is intercepted by the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DispatcherServlet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 which works as the front controller.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The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DispatcherServlet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 gets an entry of handler mapping from the XML file and forwards the request to the controller.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The controller returns an object of Model And View.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The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DispatcherServlet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 checks the entry of the view resolver in the XML file and invokes the specified view component.</a:t>
            </a:r>
          </a:p>
        </p:txBody>
      </p:sp>
    </p:spTree>
    <p:extLst>
      <p:ext uri="{BB962C8B-B14F-4D97-AF65-F5344CB8AC3E}">
        <p14:creationId xmlns:p14="http://schemas.microsoft.com/office/powerpoint/2010/main" val="18350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BE47-5DD3-74C0-08FD-1B1D5EC4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Understanding the flow of Spring Web MVC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4DF725-4CCC-9003-9543-AC7D28346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39" y="1652339"/>
            <a:ext cx="9704438" cy="476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99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BE47-5DD3-74C0-08FD-1B1D5EC4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Understanding the flow of Spring Web MVC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012EB-8763-5597-0DF0-782E6E3AA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Load the spring jar files or add dependencies in the case of Maven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Create the controller class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Provide the entry of controller in the web.xml file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Define the bean in the separate XML file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Display the message in the JSP page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Start the server and deploy the project</a:t>
            </a:r>
          </a:p>
        </p:txBody>
      </p:sp>
    </p:spTree>
    <p:extLst>
      <p:ext uri="{BB962C8B-B14F-4D97-AF65-F5344CB8AC3E}">
        <p14:creationId xmlns:p14="http://schemas.microsoft.com/office/powerpoint/2010/main" val="3422656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D6AE3-6992-70AA-23DD-13A3FF8BA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C1A80-4871-E95F-E016-AC6B0AC1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Rest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1B037-A58B-27FF-5573-7D5DCD64B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REST or Representational State Transfer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is an architectural style that can be applied to web services to create and enhance properties like performance, scalability, and modifiability.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RESTful web services are generally highly scalable, light, and maintainable and are used to create APIs for web-based applications.</a:t>
            </a: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488571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04235-F8AB-8984-0E38-C3F6AAF49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467F5-3657-D944-FC1F-3564EA427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pPr algn="just" fontAlgn="base">
              <a:spcBef>
                <a:spcPts val="1800"/>
              </a:spcBef>
              <a:spcAft>
                <a:spcPts val="1800"/>
              </a:spcAft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Principles of RESTful applications: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CE569-56EB-2B65-78A6-02657D075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rmAutofit/>
          </a:bodyPr>
          <a:lstStyle/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+mj-lt"/>
              </a:rPr>
              <a:t>URI Resource Identification: </a:t>
            </a:r>
            <a:r>
              <a:rPr lang="en-US" b="0" i="0" dirty="0">
                <a:solidFill>
                  <a:srgbClr val="273239"/>
                </a:solidFill>
                <a:effectLst/>
                <a:latin typeface="+mj-lt"/>
              </a:rPr>
              <a:t>A RESTful web service should have a set of resources that can be used to select targets of interactions with clients. These resources can be identified by URI (Uniform Resource Identifiers). The URIs provide a global addressing space and help with service discovery.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+mj-lt"/>
              </a:rPr>
              <a:t>Uniform Interface: </a:t>
            </a:r>
            <a:r>
              <a:rPr lang="en-US" b="0" i="0" dirty="0">
                <a:solidFill>
                  <a:srgbClr val="273239"/>
                </a:solidFill>
                <a:effectLst/>
                <a:latin typeface="+mj-lt"/>
              </a:rPr>
              <a:t>Resources should have a uniform or fixed set of operations, such as PUT, GET, POST, and DELETE operations. This is a key principle that differentiates between a REST web service and a non-REST web service.</a:t>
            </a:r>
          </a:p>
        </p:txBody>
      </p:sp>
    </p:spTree>
    <p:extLst>
      <p:ext uri="{BB962C8B-B14F-4D97-AF65-F5344CB8AC3E}">
        <p14:creationId xmlns:p14="http://schemas.microsoft.com/office/powerpoint/2010/main" val="3679492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E4698-56F6-0011-3FC3-A9D2C534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C12A-B794-9278-B85B-6AB774F7E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pPr algn="just" fontAlgn="base">
              <a:spcBef>
                <a:spcPts val="1800"/>
              </a:spcBef>
              <a:spcAft>
                <a:spcPts val="1800"/>
              </a:spcAft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Principles of RESTful applications: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6873D-65A8-95FC-8524-DBDD386CF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rmAutofit lnSpcReduction="10000"/>
          </a:bodyPr>
          <a:lstStyle/>
          <a:p>
            <a:pPr marL="0" indent="0" algn="just" fontAlgn="base">
              <a:spcAft>
                <a:spcPts val="1800"/>
              </a:spcAft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+mj-lt"/>
              </a:rPr>
              <a:t>3. Self-Descriptive Messages: </a:t>
            </a:r>
            <a:r>
              <a:rPr lang="en-US" b="0" i="0" dirty="0">
                <a:solidFill>
                  <a:srgbClr val="273239"/>
                </a:solidFill>
                <a:effectLst/>
                <a:latin typeface="+mj-lt"/>
              </a:rPr>
              <a:t>As resources are decoupled from their representation, content can be accessed through a large number of formats like HTML, PDF, JPEG, XML, plain text, JSON, etc. </a:t>
            </a:r>
          </a:p>
          <a:p>
            <a:pPr marL="0" indent="0" algn="just" fontAlgn="base">
              <a:spcAft>
                <a:spcPts val="1800"/>
              </a:spcAft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+mj-lt"/>
              </a:rPr>
              <a:t>4. Use of Hyperlinks for State Interactions: </a:t>
            </a:r>
            <a:r>
              <a:rPr lang="en-US" b="0" i="0" dirty="0">
                <a:solidFill>
                  <a:srgbClr val="273239"/>
                </a:solidFill>
                <a:effectLst/>
                <a:latin typeface="+mj-lt"/>
              </a:rPr>
              <a:t>In REST, interactions with a resource are stateless, that is, request messages are self-contained. </a:t>
            </a:r>
          </a:p>
          <a:p>
            <a:pPr algn="just" fontAlgn="base">
              <a:spcAft>
                <a:spcPts val="180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latin typeface="+mj-lt"/>
              </a:rPr>
              <a:t>So, the explicit state transfer concept is used to provide stateful interactions. </a:t>
            </a:r>
          </a:p>
          <a:p>
            <a:pPr algn="just" fontAlgn="base">
              <a:spcAft>
                <a:spcPts val="180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latin typeface="+mj-lt"/>
              </a:rPr>
              <a:t>URI rewriting, cookies, and form fields can be used to implement the exchange of state. A state can also be embedded in response messages and can be used to point to valid future states of interaction.</a:t>
            </a:r>
          </a:p>
        </p:txBody>
      </p:sp>
    </p:spTree>
    <p:extLst>
      <p:ext uri="{BB962C8B-B14F-4D97-AF65-F5344CB8AC3E}">
        <p14:creationId xmlns:p14="http://schemas.microsoft.com/office/powerpoint/2010/main" val="342537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3923</TotalTime>
  <Words>920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erdana</vt:lpstr>
      <vt:lpstr>inter-bold</vt:lpstr>
      <vt:lpstr>inter-regular</vt:lpstr>
      <vt:lpstr>Nunito</vt:lpstr>
      <vt:lpstr>Office Theme</vt:lpstr>
      <vt:lpstr>Introduction to SpringBoot Framework</vt:lpstr>
      <vt:lpstr>Introduction to the SpringBoot Application:</vt:lpstr>
      <vt:lpstr>Advantages of Spring Boot</vt:lpstr>
      <vt:lpstr>Advantages of Spring Boot</vt:lpstr>
      <vt:lpstr>Advantages of Spring Boot</vt:lpstr>
      <vt:lpstr>Purpose of Spring Boot</vt:lpstr>
      <vt:lpstr>Spring MVC:</vt:lpstr>
      <vt:lpstr>Understanding the flow of Spring Web MVC</vt:lpstr>
      <vt:lpstr>Understanding the flow of Spring Web MVC</vt:lpstr>
      <vt:lpstr>Understanding the flow of Spring Web MVC</vt:lpstr>
      <vt:lpstr>Rest</vt:lpstr>
      <vt:lpstr>Principles of RESTful applications:</vt:lpstr>
      <vt:lpstr>Principles of RESTful applications: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Faizul Haque</dc:creator>
  <cp:lastModifiedBy>Faizul Haque</cp:lastModifiedBy>
  <cp:revision>55</cp:revision>
  <dcterms:created xsi:type="dcterms:W3CDTF">2025-02-06T15:32:09Z</dcterms:created>
  <dcterms:modified xsi:type="dcterms:W3CDTF">2025-02-16T12:10:17Z</dcterms:modified>
</cp:coreProperties>
</file>